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8" r:id="rId3"/>
    <p:sldId id="259" r:id="rId4"/>
    <p:sldId id="260" r:id="rId5"/>
    <p:sldId id="267" r:id="rId6"/>
    <p:sldId id="286" r:id="rId7"/>
    <p:sldId id="269" r:id="rId8"/>
    <p:sldId id="276" r:id="rId9"/>
    <p:sldId id="277" r:id="rId10"/>
    <p:sldId id="278" r:id="rId11"/>
    <p:sldId id="279" r:id="rId12"/>
    <p:sldId id="283" r:id="rId13"/>
    <p:sldId id="284" r:id="rId14"/>
    <p:sldId id="282" r:id="rId15"/>
    <p:sldId id="285" r:id="rId16"/>
    <p:sldId id="287" r:id="rId17"/>
    <p:sldId id="274" r:id="rId18"/>
    <p:sldId id="275"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p:cViewPr varScale="1">
        <p:scale>
          <a:sx n="100" d="100"/>
          <a:sy n="100" d="100"/>
        </p:scale>
        <p:origin x="726"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7F5B7F-8512-41E7-A035-99AF5AE4F19F}" type="datetimeFigureOut">
              <a:rPr lang="en-US" smtClean="0"/>
              <a:pPr/>
              <a:t>3/24/2022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DBF95E-DA7F-4100-90CB-4D99A6961DEE}"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DBDE36E3-064B-4319-8971-DB24598FB7A4}" type="datetimeFigureOut">
              <a:rPr lang="en-US" smtClean="0"/>
              <a:pPr/>
              <a:t>3/24/2022</a:t>
            </a:fld>
            <a:endParaRPr lang="en-US" dirty="0"/>
          </a:p>
        </p:txBody>
      </p:sp>
      <p:sp>
        <p:nvSpPr>
          <p:cNvPr id="20" name="Footer Placeholder 19"/>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2401026F-F1B0-4023-B4A0-A3D8B50537F2}" type="slidenum">
              <a:rPr lang="en-US" smtClean="0"/>
              <a:pPr/>
              <a:t>‹#›</a:t>
            </a:fld>
            <a:endParaRPr lang="en-US" dirty="0"/>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3/24/2022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DBDE36E3-064B-4319-8971-DB24598FB7A4}" type="datetimeFigureOut">
              <a:rPr lang="en-US" smtClean="0"/>
              <a:pPr/>
              <a:t>3/24/2022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dirty="0"/>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BDE36E3-064B-4319-8971-DB24598FB7A4}" type="datetimeFigureOut">
              <a:rPr lang="en-US" smtClean="0"/>
              <a:pPr/>
              <a:t>3/24/2022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BDE36E3-064B-4319-8971-DB24598FB7A4}" type="datetimeFigureOut">
              <a:rPr lang="en-US" smtClean="0"/>
              <a:pPr/>
              <a:t>3/24/2022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401026F-F1B0-4023-B4A0-A3D8B50537F2}"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DBDE36E3-064B-4319-8971-DB24598FB7A4}" type="datetimeFigureOut">
              <a:rPr lang="en-US" smtClean="0"/>
              <a:pPr/>
              <a:t>3/24/2022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401026F-F1B0-4023-B4A0-A3D8B50537F2}"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Date Placeholder 1"/>
          <p:cNvSpPr>
            <a:spLocks noGrp="1"/>
          </p:cNvSpPr>
          <p:nvPr>
            <p:ph type="dt" sz="half" idx="10"/>
          </p:nvPr>
        </p:nvSpPr>
        <p:spPr/>
        <p:txBody>
          <a:bodyPr/>
          <a:lstStyle/>
          <a:p>
            <a:fld id="{DBDE36E3-064B-4319-8971-DB24598FB7A4}" type="datetimeFigureOut">
              <a:rPr lang="en-US" smtClean="0"/>
              <a:pPr/>
              <a:t>3/24/2022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401026F-F1B0-4023-B4A0-A3D8B50537F2}" type="slidenum">
              <a:rPr lang="en-US" smtClean="0"/>
              <a:pPr/>
              <a:t>‹#›</a:t>
            </a:fld>
            <a:endParaRPr lang="en-US" dirty="0"/>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BDE36E3-064B-4319-8971-DB24598FB7A4}" type="datetimeFigureOut">
              <a:rPr lang="en-US" smtClean="0"/>
              <a:pPr/>
              <a:t>3/24/2022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DBDE36E3-064B-4319-8971-DB24598FB7A4}" type="datetimeFigureOut">
              <a:rPr lang="en-US" smtClean="0"/>
              <a:pPr/>
              <a:t>3/24/2022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dirty="0"/>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dirty="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dirty="0"/>
              <a:t>Click icon to add picture</a:t>
            </a:r>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3/24/2022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3/24/2022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DBDE36E3-064B-4319-8971-DB24598FB7A4}" type="datetimeFigureOut">
              <a:rPr lang="en-US" smtClean="0"/>
              <a:pPr/>
              <a:t>3/24/2022</a:t>
            </a:fld>
            <a:endParaRPr lang="en-US" dirty="0"/>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dirty="0"/>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2401026F-F1B0-4023-B4A0-A3D8B50537F2}" type="slidenum">
              <a:rPr lang="en-US" smtClean="0"/>
              <a:pPr/>
              <a:t>‹#›</a:t>
            </a:fld>
            <a:endParaRPr lang="en-US" dirty="0"/>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sitepoint.com/php/" TargetMode="External"/><Relationship Id="rId7" Type="http://schemas.openxmlformats.org/officeDocument/2006/relationships/hyperlink" Target="https://www.apachefriends.org/download.html" TargetMode="External"/><Relationship Id="rId2" Type="http://schemas.openxmlformats.org/officeDocument/2006/relationships/hyperlink" Target="https://www.w3schools.com/php/default.asp" TargetMode="External"/><Relationship Id="rId1" Type="http://schemas.openxmlformats.org/officeDocument/2006/relationships/slideLayout" Target="../slideLayouts/slideLayout2.xml"/><Relationship Id="rId6" Type="http://schemas.openxmlformats.org/officeDocument/2006/relationships/hyperlink" Target="http://www.mysqltutorial.org/" TargetMode="External"/><Relationship Id="rId5" Type="http://schemas.openxmlformats.org/officeDocument/2006/relationships/hyperlink" Target="https://www.mysql.com/" TargetMode="External"/><Relationship Id="rId4" Type="http://schemas.openxmlformats.org/officeDocument/2006/relationships/hyperlink" Target="https://www.php.ne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7218" y="3372508"/>
            <a:ext cx="8429684" cy="1728192"/>
          </a:xfrm>
        </p:spPr>
        <p:txBody>
          <a:bodyPr>
            <a:normAutofit/>
          </a:bodyPr>
          <a:lstStyle/>
          <a:p>
            <a:pPr algn="ctr"/>
            <a:r>
              <a:rPr lang="en-US" sz="2800" b="1" u="sng" dirty="0"/>
              <a:t>Curfew e-Pass Management System</a:t>
            </a:r>
            <a:br>
              <a:rPr lang="en-US" b="1" u="sng" dirty="0"/>
            </a:br>
            <a:r>
              <a:rPr lang="en-US" sz="2000" b="1" u="sng" dirty="0"/>
              <a:t>Developed in PHP &amp; MySQL</a:t>
            </a:r>
            <a:br>
              <a:rPr lang="en-US" dirty="0"/>
            </a:br>
            <a:endParaRPr lang="en-US" dirty="0"/>
          </a:p>
        </p:txBody>
      </p:sp>
      <p:sp>
        <p:nvSpPr>
          <p:cNvPr id="3" name="TextBox 2">
            <a:extLst>
              <a:ext uri="{FF2B5EF4-FFF2-40B4-BE49-F238E27FC236}">
                <a16:creationId xmlns:a16="http://schemas.microsoft.com/office/drawing/2014/main" id="{22F9940F-FB14-4439-A789-181A47E9B22F}"/>
              </a:ext>
            </a:extLst>
          </p:cNvPr>
          <p:cNvSpPr txBox="1"/>
          <p:nvPr/>
        </p:nvSpPr>
        <p:spPr>
          <a:xfrm>
            <a:off x="1475656" y="4869160"/>
            <a:ext cx="8172228" cy="1200329"/>
          </a:xfrm>
          <a:prstGeom prst="rect">
            <a:avLst/>
          </a:prstGeom>
          <a:noFill/>
        </p:spPr>
        <p:txBody>
          <a:bodyPr wrap="square" rtlCol="0">
            <a:spAutoFit/>
          </a:bodyPr>
          <a:lstStyle/>
          <a:p>
            <a:r>
              <a:rPr lang="en-US" sz="2400" dirty="0"/>
              <a:t>                                     </a:t>
            </a:r>
          </a:p>
          <a:p>
            <a:r>
              <a:rPr lang="en-US" sz="2400" dirty="0"/>
              <a:t>                      Niharika K(1DT19CS094)</a:t>
            </a:r>
          </a:p>
          <a:p>
            <a:r>
              <a:rPr lang="en-US" sz="2400" dirty="0"/>
              <a:t>                  Madhu Sudhan S(1DT19CS074) </a:t>
            </a:r>
            <a:endParaRPr lang="en-IN" sz="2400" dirty="0"/>
          </a:p>
        </p:txBody>
      </p:sp>
      <p:pic>
        <p:nvPicPr>
          <p:cNvPr id="4" name="Picture 3">
            <a:extLst>
              <a:ext uri="{FF2B5EF4-FFF2-40B4-BE49-F238E27FC236}">
                <a16:creationId xmlns:a16="http://schemas.microsoft.com/office/drawing/2014/main" id="{396907D4-B8F9-4E05-95E0-B1D8EA9D31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149053"/>
            <a:ext cx="8028384" cy="3326645"/>
          </a:xfrm>
          <a:prstGeom prst="rect">
            <a:avLst/>
          </a:prstGeom>
        </p:spPr>
      </p:pic>
      <p:cxnSp>
        <p:nvCxnSpPr>
          <p:cNvPr id="6" name="Straight Connector 5">
            <a:extLst>
              <a:ext uri="{FF2B5EF4-FFF2-40B4-BE49-F238E27FC236}">
                <a16:creationId xmlns:a16="http://schemas.microsoft.com/office/drawing/2014/main" id="{E69A5CB6-839C-4E2A-A378-5954FC9531E0}"/>
              </a:ext>
            </a:extLst>
          </p:cNvPr>
          <p:cNvCxnSpPr/>
          <p:nvPr/>
        </p:nvCxnSpPr>
        <p:spPr>
          <a:xfrm>
            <a:off x="1259632" y="5157192"/>
            <a:ext cx="7704856"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2A6103-6361-4DEF-ABFE-CA448FBC21A5}"/>
              </a:ext>
            </a:extLst>
          </p:cNvPr>
          <p:cNvSpPr txBox="1"/>
          <p:nvPr/>
        </p:nvSpPr>
        <p:spPr>
          <a:xfrm>
            <a:off x="4572000" y="4639035"/>
            <a:ext cx="720080" cy="461665"/>
          </a:xfrm>
          <a:prstGeom prst="rect">
            <a:avLst/>
          </a:prstGeom>
          <a:noFill/>
        </p:spPr>
        <p:txBody>
          <a:bodyPr wrap="square" rtlCol="0">
            <a:spAutoFit/>
          </a:bodyPr>
          <a:lstStyle/>
          <a:p>
            <a:r>
              <a:rPr lang="en-US" sz="2400" dirty="0"/>
              <a:t>BY</a:t>
            </a:r>
            <a:endParaRPr lang="en-I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14290"/>
            <a:ext cx="7498080" cy="642942"/>
          </a:xfrm>
        </p:spPr>
        <p:txBody>
          <a:bodyPr>
            <a:normAutofit fontScale="90000"/>
          </a:bodyPr>
          <a:lstStyle/>
          <a:p>
            <a:pPr algn="ctr"/>
            <a:br>
              <a:rPr lang="en-US" b="1" u="sng" dirty="0"/>
            </a:br>
            <a:r>
              <a:rPr lang="en-US" b="1" u="sng" dirty="0"/>
              <a:t>INTRODUCTION</a:t>
            </a:r>
            <a:br>
              <a:rPr lang="en-US" dirty="0"/>
            </a:br>
            <a:endParaRPr lang="en-US" dirty="0"/>
          </a:p>
        </p:txBody>
      </p:sp>
      <p:sp>
        <p:nvSpPr>
          <p:cNvPr id="3" name="Content Placeholder 2"/>
          <p:cNvSpPr>
            <a:spLocks noGrp="1"/>
          </p:cNvSpPr>
          <p:nvPr>
            <p:ph idx="1"/>
          </p:nvPr>
        </p:nvSpPr>
        <p:spPr>
          <a:xfrm>
            <a:off x="1435608" y="1142984"/>
            <a:ext cx="7498080" cy="5105416"/>
          </a:xfrm>
        </p:spPr>
        <p:txBody>
          <a:bodyPr>
            <a:normAutofit/>
          </a:bodyPr>
          <a:lstStyle/>
          <a:p>
            <a:r>
              <a:rPr lang="en-IN" sz="2000" dirty="0"/>
              <a:t>Curfew Pass Management system is a web-based technology that will manage the records of pass which is issue by administrative and also help to provide online curfew e-pass to people who need to travel compulsory. </a:t>
            </a:r>
            <a:r>
              <a:rPr lang="en-IN" sz="2000" b="1" dirty="0"/>
              <a:t>Curfew Pass Management System </a:t>
            </a:r>
            <a:r>
              <a:rPr lang="en-IN" sz="2000" dirty="0"/>
              <a:t>is an automatic system which delivers data processing in very high speed in systematic manner.</a:t>
            </a:r>
            <a:endParaRPr lang="en-US" sz="2000" dirty="0"/>
          </a:p>
          <a:p>
            <a:r>
              <a:rPr lang="en-IN" sz="2000" dirty="0"/>
              <a:t>In CPMS we use PHP and MySQL database. This is the project which keeps records of the pass which is issued by administrative. CPMS has three module i.e. admin, Subadmin, and User.</a:t>
            </a:r>
          </a:p>
          <a:p>
            <a:pPr>
              <a:buNone/>
            </a:pPr>
            <a:endParaRPr lang="en-US" sz="2000" dirty="0"/>
          </a:p>
          <a:p>
            <a:pPr>
              <a:buFont typeface="Wingdings" pitchFamily="2" charset="2"/>
              <a:buChar char="q"/>
            </a:pPr>
            <a:r>
              <a:rPr lang="en-IN" sz="2000" dirty="0"/>
              <a:t> Admin</a:t>
            </a:r>
          </a:p>
          <a:p>
            <a:pPr>
              <a:buFont typeface="Wingdings" pitchFamily="2" charset="2"/>
              <a:buChar char="q"/>
            </a:pPr>
            <a:r>
              <a:rPr lang="en-IN" sz="2000" dirty="0"/>
              <a:t>Sub-Admin</a:t>
            </a:r>
          </a:p>
          <a:p>
            <a:pPr>
              <a:buFont typeface="Wingdings" pitchFamily="2" charset="2"/>
              <a:buChar char="q"/>
            </a:pPr>
            <a:r>
              <a:rPr lang="en-IN" sz="2000" dirty="0"/>
              <a:t> User</a:t>
            </a:r>
          </a:p>
          <a:p>
            <a:pPr>
              <a:buFont typeface="Wingdings" pitchFamily="2" charset="2"/>
              <a:buChar char="q"/>
            </a:pPr>
            <a:endParaRPr lang="en-IN" sz="2000" dirty="0"/>
          </a:p>
          <a:p>
            <a:endParaRPr lang="en-US" sz="1800" dirty="0"/>
          </a:p>
          <a:p>
            <a:pPr>
              <a:buNone/>
            </a:pPr>
            <a:endParaRPr lang="en-US" sz="1800" dirty="0"/>
          </a:p>
          <a:p>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692696"/>
            <a:ext cx="7498080" cy="714380"/>
          </a:xfrm>
        </p:spPr>
        <p:txBody>
          <a:bodyPr>
            <a:normAutofit fontScale="90000"/>
          </a:bodyPr>
          <a:lstStyle/>
          <a:p>
            <a:pPr algn="ctr"/>
            <a:r>
              <a:rPr lang="en-US" sz="4000" b="1" u="sng" dirty="0"/>
              <a:t>IDEA OF IMPLEMENTATION</a:t>
            </a:r>
            <a:br>
              <a:rPr lang="en-US" sz="4000" b="1" u="sng" dirty="0"/>
            </a:br>
            <a:br>
              <a:rPr lang="en-US" dirty="0"/>
            </a:br>
            <a:endParaRPr lang="en-US" dirty="0"/>
          </a:p>
        </p:txBody>
      </p:sp>
      <p:sp>
        <p:nvSpPr>
          <p:cNvPr id="3" name="Content Placeholder 2"/>
          <p:cNvSpPr>
            <a:spLocks noGrp="1"/>
          </p:cNvSpPr>
          <p:nvPr>
            <p:ph idx="1"/>
          </p:nvPr>
        </p:nvSpPr>
        <p:spPr>
          <a:xfrm>
            <a:off x="1403648" y="1983140"/>
            <a:ext cx="7498080" cy="5391168"/>
          </a:xfrm>
        </p:spPr>
        <p:txBody>
          <a:bodyPr>
            <a:normAutofit fontScale="40000" lnSpcReduction="20000"/>
          </a:bodyPr>
          <a:lstStyle/>
          <a:p>
            <a:r>
              <a:rPr lang="en-US" sz="4500" dirty="0"/>
              <a:t>Secure admin login system</a:t>
            </a:r>
          </a:p>
          <a:p>
            <a:pPr lvl="0"/>
            <a:r>
              <a:rPr lang="en-IN" sz="4500" b="1" dirty="0"/>
              <a:t>Dashboard</a:t>
            </a:r>
            <a:r>
              <a:rPr lang="en-IN" sz="4500" dirty="0"/>
              <a:t>: In this section, admin can briefly view the total number of category and how many pass will be generated in one day, yesterdays and last seven’s days.</a:t>
            </a:r>
            <a:endParaRPr lang="en-US" sz="4500" dirty="0"/>
          </a:p>
          <a:p>
            <a:pPr lvl="0"/>
            <a:r>
              <a:rPr lang="en-IN" sz="4500" b="1" dirty="0"/>
              <a:t>Sub-admin: </a:t>
            </a:r>
            <a:r>
              <a:rPr lang="en-IN" sz="4500" dirty="0"/>
              <a:t>In this section, Admin can create and manage the sub-admin(Add, update).</a:t>
            </a:r>
            <a:endParaRPr lang="en-US" sz="4500" dirty="0"/>
          </a:p>
          <a:p>
            <a:pPr lvl="0"/>
            <a:r>
              <a:rPr lang="en-IN" sz="4500" b="1" dirty="0"/>
              <a:t>Category</a:t>
            </a:r>
            <a:r>
              <a:rPr lang="en-IN" sz="4500" dirty="0"/>
              <a:t>: In this section, admin can manage category (add/update).</a:t>
            </a:r>
            <a:endParaRPr lang="en-US" sz="4500" dirty="0"/>
          </a:p>
          <a:p>
            <a:pPr lvl="0"/>
            <a:r>
              <a:rPr lang="en-IN" sz="4500" b="1" dirty="0"/>
              <a:t>Add Pass</a:t>
            </a:r>
            <a:r>
              <a:rPr lang="en-IN" sz="4500" dirty="0"/>
              <a:t>: In this section, admin add pass.</a:t>
            </a:r>
            <a:endParaRPr lang="en-US" sz="4500" dirty="0"/>
          </a:p>
          <a:p>
            <a:pPr lvl="0"/>
            <a:r>
              <a:rPr lang="en-IN" sz="4500" b="1" dirty="0"/>
              <a:t>Manage Pass</a:t>
            </a:r>
            <a:r>
              <a:rPr lang="en-IN" sz="4500" dirty="0"/>
              <a:t>: In this section, admin can update pass and take print of that pass.</a:t>
            </a:r>
            <a:endParaRPr lang="en-US" sz="4500" dirty="0"/>
          </a:p>
          <a:p>
            <a:pPr lvl="0"/>
            <a:r>
              <a:rPr lang="en-IN" sz="4500" b="1" dirty="0"/>
              <a:t>Reports</a:t>
            </a:r>
            <a:r>
              <a:rPr lang="en-IN" sz="4500" dirty="0"/>
              <a:t>: In this section, admin can generate pass reports between two dates and also generates report sub admin wise.</a:t>
            </a:r>
            <a:endParaRPr lang="en-US" sz="4500" dirty="0"/>
          </a:p>
          <a:p>
            <a:pPr lvl="0"/>
            <a:r>
              <a:rPr lang="en-IN" sz="4500" b="1" dirty="0"/>
              <a:t>Search</a:t>
            </a:r>
            <a:r>
              <a:rPr lang="en-IN" sz="4500" dirty="0"/>
              <a:t>: In this section, admin can search a particular pass by pass number.</a:t>
            </a:r>
            <a:endParaRPr lang="en-US" sz="4500" dirty="0"/>
          </a:p>
          <a:p>
            <a:pPr lvl="0"/>
            <a:r>
              <a:rPr lang="en-IN" sz="4500" b="1" dirty="0"/>
              <a:t>Admin Profile:</a:t>
            </a:r>
            <a:r>
              <a:rPr lang="en-IN" sz="4500" dirty="0"/>
              <a:t> In this section, Admin can update their profile details.</a:t>
            </a:r>
            <a:endParaRPr lang="en-US" sz="4500" dirty="0"/>
          </a:p>
          <a:p>
            <a:pPr lvl="0"/>
            <a:r>
              <a:rPr lang="en-IN" sz="4500" b="1" dirty="0"/>
              <a:t>Change password:</a:t>
            </a:r>
            <a:r>
              <a:rPr lang="en-IN" sz="4500" dirty="0"/>
              <a:t> In this section, Admin can change their change password.</a:t>
            </a:r>
            <a:endParaRPr lang="en-US" sz="4500" dirty="0"/>
          </a:p>
          <a:p>
            <a:pPr lvl="0"/>
            <a:r>
              <a:rPr lang="en-IN" sz="4500" dirty="0"/>
              <a:t>Admin can also recover their password.</a:t>
            </a:r>
            <a:r>
              <a:rPr lang="en-US" sz="4500" dirty="0"/>
              <a:t>.</a:t>
            </a:r>
          </a:p>
          <a:p>
            <a:pPr>
              <a:buNone/>
            </a:pPr>
            <a:endParaRPr lang="en-US" dirty="0"/>
          </a:p>
        </p:txBody>
      </p:sp>
      <p:sp>
        <p:nvSpPr>
          <p:cNvPr id="4" name="TextBox 3">
            <a:extLst>
              <a:ext uri="{FF2B5EF4-FFF2-40B4-BE49-F238E27FC236}">
                <a16:creationId xmlns:a16="http://schemas.microsoft.com/office/drawing/2014/main" id="{A55C88F5-E1C3-4E63-8DE5-4B029CF70134}"/>
              </a:ext>
            </a:extLst>
          </p:cNvPr>
          <p:cNvSpPr txBox="1"/>
          <p:nvPr/>
        </p:nvSpPr>
        <p:spPr>
          <a:xfrm>
            <a:off x="1403648" y="1268760"/>
            <a:ext cx="2520280" cy="369332"/>
          </a:xfrm>
          <a:prstGeom prst="rect">
            <a:avLst/>
          </a:prstGeom>
          <a:noFill/>
        </p:spPr>
        <p:txBody>
          <a:bodyPr wrap="square" rtlCol="0">
            <a:spAutoFit/>
          </a:bodyPr>
          <a:lstStyle/>
          <a:p>
            <a:r>
              <a:rPr lang="en-US" sz="1800" b="1" u="sng" dirty="0"/>
              <a:t>ADMIN MODULE</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214290"/>
            <a:ext cx="2520280" cy="1285884"/>
          </a:xfrm>
        </p:spPr>
        <p:txBody>
          <a:bodyPr>
            <a:normAutofit fontScale="90000"/>
          </a:bodyPr>
          <a:lstStyle/>
          <a:p>
            <a:pPr algn="ctr"/>
            <a:r>
              <a:rPr lang="en-US" sz="2200" b="1" u="sng" dirty="0">
                <a:solidFill>
                  <a:schemeClr val="tx1"/>
                </a:solidFill>
              </a:rPr>
              <a:t>SUB-ADMIN</a:t>
            </a:r>
            <a:r>
              <a:rPr lang="en-US" b="1" u="sng" dirty="0"/>
              <a:t>  </a:t>
            </a:r>
            <a:br>
              <a:rPr lang="en-US" dirty="0"/>
            </a:br>
            <a:endParaRPr lang="en-US" dirty="0"/>
          </a:p>
        </p:txBody>
      </p:sp>
      <p:sp>
        <p:nvSpPr>
          <p:cNvPr id="3" name="Content Placeholder 2"/>
          <p:cNvSpPr>
            <a:spLocks noGrp="1"/>
          </p:cNvSpPr>
          <p:nvPr>
            <p:ph idx="1"/>
          </p:nvPr>
        </p:nvSpPr>
        <p:spPr>
          <a:xfrm>
            <a:off x="1277306" y="620687"/>
            <a:ext cx="7862150" cy="5701551"/>
          </a:xfrm>
        </p:spPr>
        <p:txBody>
          <a:bodyPr>
            <a:normAutofit/>
          </a:bodyPr>
          <a:lstStyle/>
          <a:p>
            <a:pPr>
              <a:buFont typeface="Wingdings" pitchFamily="2" charset="2"/>
              <a:buChar char="q"/>
            </a:pPr>
            <a:endParaRPr lang="en-US" sz="1800" b="1" dirty="0"/>
          </a:p>
          <a:p>
            <a:pPr lvl="0"/>
            <a:r>
              <a:rPr lang="en-IN" sz="1800" b="1" dirty="0"/>
              <a:t>Dashboard</a:t>
            </a:r>
            <a:r>
              <a:rPr lang="en-IN" sz="1800" dirty="0"/>
              <a:t>: In this section, Sub-admin can briefly view  how many pass will be generated in one day, yesterdays and last seven’s days.</a:t>
            </a:r>
            <a:endParaRPr lang="en-US" sz="1800" dirty="0"/>
          </a:p>
          <a:p>
            <a:pPr lvl="0"/>
            <a:r>
              <a:rPr lang="en-IN" sz="1800" b="1" dirty="0"/>
              <a:t>Add Pass</a:t>
            </a:r>
            <a:r>
              <a:rPr lang="en-IN" sz="1800" dirty="0"/>
              <a:t>: In this section, Sub-admin add pass.</a:t>
            </a:r>
            <a:endParaRPr lang="en-US" sz="1800" dirty="0"/>
          </a:p>
          <a:p>
            <a:pPr lvl="0"/>
            <a:r>
              <a:rPr lang="en-IN" sz="1800" b="1" dirty="0"/>
              <a:t>Manage Pass</a:t>
            </a:r>
            <a:r>
              <a:rPr lang="en-IN" sz="1800" dirty="0"/>
              <a:t>: In this section, Sub-admin can update pass and take print of that pass.</a:t>
            </a:r>
            <a:endParaRPr lang="en-US" sz="1800" dirty="0"/>
          </a:p>
          <a:p>
            <a:pPr lvl="0"/>
            <a:r>
              <a:rPr lang="en-IN" sz="1800" b="1" dirty="0"/>
              <a:t>Reports</a:t>
            </a:r>
            <a:r>
              <a:rPr lang="en-IN" sz="1800" dirty="0"/>
              <a:t>: In this section, Sub-admin can generate pass reports between two dates report.</a:t>
            </a:r>
            <a:endParaRPr lang="en-US" sz="1800" dirty="0"/>
          </a:p>
          <a:p>
            <a:pPr lvl="0"/>
            <a:r>
              <a:rPr lang="en-IN" sz="1800" b="1" dirty="0"/>
              <a:t>Search</a:t>
            </a:r>
            <a:r>
              <a:rPr lang="en-IN" sz="1800" dirty="0"/>
              <a:t>: In this section, Sub-Admin can search a particular pass by pass number.</a:t>
            </a:r>
            <a:endParaRPr lang="en-US" sz="1800" dirty="0"/>
          </a:p>
          <a:p>
            <a:pPr lvl="0"/>
            <a:r>
              <a:rPr lang="en-IN" sz="1800" b="1" dirty="0"/>
              <a:t>Sub-Admin Profile:</a:t>
            </a:r>
            <a:r>
              <a:rPr lang="en-IN" sz="1800" dirty="0"/>
              <a:t> In this section, Sub-Admin can update their profile details.</a:t>
            </a:r>
            <a:endParaRPr lang="en-US" sz="1800" dirty="0"/>
          </a:p>
          <a:p>
            <a:pPr lvl="0"/>
            <a:r>
              <a:rPr lang="en-IN" sz="1800" b="1" dirty="0"/>
              <a:t>Change password:</a:t>
            </a:r>
            <a:r>
              <a:rPr lang="en-IN" sz="1800" dirty="0"/>
              <a:t> In this section, Sub-admin can change their change password.</a:t>
            </a:r>
          </a:p>
          <a:p>
            <a:pPr lvl="0"/>
            <a:endParaRPr lang="en-IN" sz="1800" dirty="0"/>
          </a:p>
          <a:p>
            <a:pPr>
              <a:buNone/>
            </a:pPr>
            <a:r>
              <a:rPr lang="en-IN" sz="2000" b="1" u="sng" dirty="0"/>
              <a:t>User Module</a:t>
            </a:r>
            <a:endParaRPr lang="en-US" sz="1200" u="sng" dirty="0"/>
          </a:p>
          <a:p>
            <a:r>
              <a:rPr lang="en-IN" sz="1800" dirty="0"/>
              <a:t>User can visit home page and search pass details by entering pass number.</a:t>
            </a:r>
            <a:endParaRPr lang="en-US" sz="1800" dirty="0"/>
          </a:p>
          <a:p>
            <a:pPr lvl="0">
              <a:buNone/>
            </a:pPr>
            <a:endParaRPr lang="en-US" sz="1800" dirty="0"/>
          </a:p>
          <a:p>
            <a:pPr>
              <a:buNone/>
            </a:pPr>
            <a:endParaRPr lang="en-US" sz="2000" dirty="0"/>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1142984"/>
          </a:xfrm>
        </p:spPr>
        <p:txBody>
          <a:bodyPr/>
          <a:lstStyle/>
          <a:p>
            <a:pPr algn="ctr"/>
            <a:r>
              <a:rPr lang="en-IN" b="1" u="sng" dirty="0"/>
              <a:t>ER Diagram</a:t>
            </a:r>
            <a:endParaRPr lang="en-US" b="1" u="sng" dirty="0"/>
          </a:p>
        </p:txBody>
      </p:sp>
      <p:pic>
        <p:nvPicPr>
          <p:cNvPr id="5" name="Content Placeholder 4" descr="C:\Users\pande\Downloads\cerfewerdia.jpg"/>
          <p:cNvPicPr>
            <a:picLocks noGrp="1"/>
          </p:cNvPicPr>
          <p:nvPr>
            <p:ph idx="1"/>
          </p:nvPr>
        </p:nvPicPr>
        <p:blipFill>
          <a:blip r:embed="rId2"/>
          <a:srcRect/>
          <a:stretch>
            <a:fillRect/>
          </a:stretch>
        </p:blipFill>
        <p:spPr bwMode="auto">
          <a:xfrm>
            <a:off x="1435100" y="1357298"/>
            <a:ext cx="7499350" cy="4929221"/>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4BA4-1C82-4882-9B4F-C97A36B65A75}"/>
              </a:ext>
            </a:extLst>
          </p:cNvPr>
          <p:cNvSpPr>
            <a:spLocks noGrp="1"/>
          </p:cNvSpPr>
          <p:nvPr>
            <p:ph type="title"/>
          </p:nvPr>
        </p:nvSpPr>
        <p:spPr>
          <a:xfrm>
            <a:off x="2195736" y="274638"/>
            <a:ext cx="6737952" cy="1143000"/>
          </a:xfrm>
        </p:spPr>
        <p:txBody>
          <a:bodyPr>
            <a:normAutofit/>
          </a:bodyPr>
          <a:lstStyle/>
          <a:p>
            <a:r>
              <a:rPr lang="en-US" sz="4000" b="1" u="sng" dirty="0"/>
              <a:t>RELATIONAL SCHEMA</a:t>
            </a:r>
            <a:endParaRPr lang="en-IN" sz="4000" b="1" u="sng" dirty="0"/>
          </a:p>
        </p:txBody>
      </p:sp>
      <p:pic>
        <p:nvPicPr>
          <p:cNvPr id="7" name="Content Placeholder 6">
            <a:extLst>
              <a:ext uri="{FF2B5EF4-FFF2-40B4-BE49-F238E27FC236}">
                <a16:creationId xmlns:a16="http://schemas.microsoft.com/office/drawing/2014/main" id="{FD356CF6-FA10-4368-A795-F5A43FA37F2E}"/>
              </a:ext>
            </a:extLst>
          </p:cNvPr>
          <p:cNvPicPr>
            <a:picLocks noGrp="1" noChangeAspect="1"/>
          </p:cNvPicPr>
          <p:nvPr>
            <p:ph idx="1"/>
          </p:nvPr>
        </p:nvPicPr>
        <p:blipFill>
          <a:blip r:embed="rId2"/>
          <a:stretch>
            <a:fillRect/>
          </a:stretch>
        </p:blipFill>
        <p:spPr>
          <a:xfrm>
            <a:off x="1041154" y="1781068"/>
            <a:ext cx="7987292" cy="4744276"/>
          </a:xfrm>
        </p:spPr>
      </p:pic>
    </p:spTree>
    <p:extLst>
      <p:ext uri="{BB962C8B-B14F-4D97-AF65-F5344CB8AC3E}">
        <p14:creationId xmlns:p14="http://schemas.microsoft.com/office/powerpoint/2010/main" val="3605372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25470"/>
          </a:xfrm>
        </p:spPr>
        <p:txBody>
          <a:bodyPr>
            <a:normAutofit fontScale="90000"/>
          </a:bodyPr>
          <a:lstStyle/>
          <a:p>
            <a:pPr algn="ctr"/>
            <a:r>
              <a:rPr lang="en-US" b="1" u="sng" dirty="0"/>
              <a:t>PROJECT SCREENS</a:t>
            </a:r>
            <a:br>
              <a:rPr lang="en-US" dirty="0"/>
            </a:br>
            <a:endParaRPr lang="en-US" dirty="0"/>
          </a:p>
        </p:txBody>
      </p:sp>
      <p:pic>
        <p:nvPicPr>
          <p:cNvPr id="3" name="Picture 2">
            <a:extLst>
              <a:ext uri="{FF2B5EF4-FFF2-40B4-BE49-F238E27FC236}">
                <a16:creationId xmlns:a16="http://schemas.microsoft.com/office/drawing/2014/main" id="{8729E5E8-EA06-4424-AAB3-32F9F9EB80A1}"/>
              </a:ext>
            </a:extLst>
          </p:cNvPr>
          <p:cNvPicPr>
            <a:picLocks noChangeAspect="1"/>
          </p:cNvPicPr>
          <p:nvPr/>
        </p:nvPicPr>
        <p:blipFill>
          <a:blip r:embed="rId2"/>
          <a:stretch>
            <a:fillRect/>
          </a:stretch>
        </p:blipFill>
        <p:spPr>
          <a:xfrm>
            <a:off x="1619672" y="1412776"/>
            <a:ext cx="7128792" cy="4430729"/>
          </a:xfrm>
          <a:prstGeom prst="rect">
            <a:avLst/>
          </a:prstGeom>
        </p:spPr>
      </p:pic>
      <p:sp>
        <p:nvSpPr>
          <p:cNvPr id="5" name="TextBox 4">
            <a:extLst>
              <a:ext uri="{FF2B5EF4-FFF2-40B4-BE49-F238E27FC236}">
                <a16:creationId xmlns:a16="http://schemas.microsoft.com/office/drawing/2014/main" id="{4706C1CA-DDC5-48C7-8252-6607D1D29882}"/>
              </a:ext>
            </a:extLst>
          </p:cNvPr>
          <p:cNvSpPr txBox="1"/>
          <p:nvPr/>
        </p:nvSpPr>
        <p:spPr>
          <a:xfrm>
            <a:off x="4361688" y="5949280"/>
            <a:ext cx="4572000" cy="369332"/>
          </a:xfrm>
          <a:prstGeom prst="rect">
            <a:avLst/>
          </a:prstGeom>
          <a:noFill/>
        </p:spPr>
        <p:txBody>
          <a:bodyPr wrap="square">
            <a:spAutoFit/>
          </a:bodyPr>
          <a:lstStyle/>
          <a:p>
            <a:r>
              <a:rPr lang="en-US" b="1" dirty="0">
                <a:latin typeface="Times New Roman" panose="02020603050405020304" pitchFamily="18" charset="0"/>
                <a:ea typeface="Times New Roman" panose="02020603050405020304" pitchFamily="18" charset="0"/>
              </a:rPr>
              <a:t>H</a:t>
            </a:r>
            <a:r>
              <a:rPr lang="en-US" sz="1800" b="1" dirty="0">
                <a:effectLst/>
                <a:latin typeface="Times New Roman" panose="02020603050405020304" pitchFamily="18" charset="0"/>
                <a:ea typeface="Times New Roman" panose="02020603050405020304" pitchFamily="18" charset="0"/>
              </a:rPr>
              <a:t>ome </a:t>
            </a:r>
            <a:r>
              <a:rPr lang="en-US" b="1" dirty="0">
                <a:latin typeface="Times New Roman" panose="02020603050405020304" pitchFamily="18" charset="0"/>
                <a:ea typeface="Times New Roman" panose="02020603050405020304" pitchFamily="18" charset="0"/>
              </a:rPr>
              <a:t>P</a:t>
            </a:r>
            <a:r>
              <a:rPr lang="en-US" sz="1800" b="1" dirty="0">
                <a:effectLst/>
                <a:latin typeface="Times New Roman" panose="02020603050405020304" pitchFamily="18" charset="0"/>
                <a:ea typeface="Times New Roman" panose="02020603050405020304" pitchFamily="18" charset="0"/>
              </a:rPr>
              <a:t>age</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Users\pande\Desktop\ice_screenshot_20211212-105608.png"/>
          <p:cNvPicPr>
            <a:picLocks noGrp="1"/>
          </p:cNvPicPr>
          <p:nvPr>
            <p:ph idx="1"/>
          </p:nvPr>
        </p:nvPicPr>
        <p:blipFill>
          <a:blip r:embed="rId2"/>
          <a:srcRect/>
          <a:stretch>
            <a:fillRect/>
          </a:stretch>
        </p:blipFill>
        <p:spPr bwMode="auto">
          <a:xfrm>
            <a:off x="1214414" y="285728"/>
            <a:ext cx="7499350" cy="2814382"/>
          </a:xfrm>
          <a:prstGeom prst="rect">
            <a:avLst/>
          </a:prstGeom>
          <a:noFill/>
          <a:ln w="9525">
            <a:noFill/>
            <a:miter lim="800000"/>
            <a:headEnd/>
            <a:tailEnd/>
          </a:ln>
        </p:spPr>
      </p:pic>
      <p:pic>
        <p:nvPicPr>
          <p:cNvPr id="2" name="Picture 1">
            <a:extLst>
              <a:ext uri="{FF2B5EF4-FFF2-40B4-BE49-F238E27FC236}">
                <a16:creationId xmlns:a16="http://schemas.microsoft.com/office/drawing/2014/main" id="{F470436F-CE12-41E9-A644-97CD17015506}"/>
              </a:ext>
            </a:extLst>
          </p:cNvPr>
          <p:cNvPicPr>
            <a:picLocks noChangeAspect="1"/>
          </p:cNvPicPr>
          <p:nvPr/>
        </p:nvPicPr>
        <p:blipFill>
          <a:blip r:embed="rId3"/>
          <a:stretch>
            <a:fillRect/>
          </a:stretch>
        </p:blipFill>
        <p:spPr>
          <a:xfrm>
            <a:off x="1907704" y="3573016"/>
            <a:ext cx="6696744" cy="2814383"/>
          </a:xfrm>
          <a:prstGeom prst="rect">
            <a:avLst/>
          </a:prstGeom>
        </p:spPr>
      </p:pic>
      <p:sp>
        <p:nvSpPr>
          <p:cNvPr id="6" name="TextBox 5">
            <a:extLst>
              <a:ext uri="{FF2B5EF4-FFF2-40B4-BE49-F238E27FC236}">
                <a16:creationId xmlns:a16="http://schemas.microsoft.com/office/drawing/2014/main" id="{C338A100-184C-4C70-9B2D-E164B132A34D}"/>
              </a:ext>
            </a:extLst>
          </p:cNvPr>
          <p:cNvSpPr txBox="1"/>
          <p:nvPr/>
        </p:nvSpPr>
        <p:spPr>
          <a:xfrm>
            <a:off x="4427984" y="6334083"/>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Admin login</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278C93-90E9-44D7-B7DA-517C27E3A44A}"/>
              </a:ext>
            </a:extLst>
          </p:cNvPr>
          <p:cNvPicPr>
            <a:picLocks noChangeAspect="1"/>
          </p:cNvPicPr>
          <p:nvPr/>
        </p:nvPicPr>
        <p:blipFill>
          <a:blip r:embed="rId2"/>
          <a:stretch>
            <a:fillRect/>
          </a:stretch>
        </p:blipFill>
        <p:spPr>
          <a:xfrm>
            <a:off x="1331640" y="980728"/>
            <a:ext cx="7415726" cy="5064108"/>
          </a:xfrm>
          <a:prstGeom prst="rect">
            <a:avLst/>
          </a:prstGeom>
        </p:spPr>
      </p:pic>
      <p:sp>
        <p:nvSpPr>
          <p:cNvPr id="8" name="TextBox 7">
            <a:extLst>
              <a:ext uri="{FF2B5EF4-FFF2-40B4-BE49-F238E27FC236}">
                <a16:creationId xmlns:a16="http://schemas.microsoft.com/office/drawing/2014/main" id="{066D2F0A-C3B4-44A6-972D-8831B4BFC8B2}"/>
              </a:ext>
            </a:extLst>
          </p:cNvPr>
          <p:cNvSpPr txBox="1"/>
          <p:nvPr/>
        </p:nvSpPr>
        <p:spPr>
          <a:xfrm>
            <a:off x="4283968" y="6044836"/>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Dashboard</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1C4C01-09B7-473F-9192-4407F8BD5704}"/>
              </a:ext>
            </a:extLst>
          </p:cNvPr>
          <p:cNvPicPr>
            <a:picLocks noChangeAspect="1"/>
          </p:cNvPicPr>
          <p:nvPr/>
        </p:nvPicPr>
        <p:blipFill>
          <a:blip r:embed="rId2"/>
          <a:stretch>
            <a:fillRect/>
          </a:stretch>
        </p:blipFill>
        <p:spPr>
          <a:xfrm>
            <a:off x="1712503" y="3554063"/>
            <a:ext cx="6911670" cy="2736759"/>
          </a:xfrm>
          <a:prstGeom prst="rect">
            <a:avLst/>
          </a:prstGeom>
        </p:spPr>
      </p:pic>
      <p:pic>
        <p:nvPicPr>
          <p:cNvPr id="8" name="Picture 7">
            <a:extLst>
              <a:ext uri="{FF2B5EF4-FFF2-40B4-BE49-F238E27FC236}">
                <a16:creationId xmlns:a16="http://schemas.microsoft.com/office/drawing/2014/main" id="{BAD9E6C9-F625-47FF-A101-2A4DE33ECC98}"/>
              </a:ext>
            </a:extLst>
          </p:cNvPr>
          <p:cNvPicPr>
            <a:picLocks noChangeAspect="1"/>
          </p:cNvPicPr>
          <p:nvPr/>
        </p:nvPicPr>
        <p:blipFill>
          <a:blip r:embed="rId3"/>
          <a:stretch>
            <a:fillRect/>
          </a:stretch>
        </p:blipFill>
        <p:spPr>
          <a:xfrm>
            <a:off x="1712502" y="332656"/>
            <a:ext cx="6911670" cy="2772866"/>
          </a:xfrm>
          <a:prstGeom prst="rect">
            <a:avLst/>
          </a:prstGeom>
        </p:spPr>
      </p:pic>
      <p:sp>
        <p:nvSpPr>
          <p:cNvPr id="10" name="TextBox 9">
            <a:extLst>
              <a:ext uri="{FF2B5EF4-FFF2-40B4-BE49-F238E27FC236}">
                <a16:creationId xmlns:a16="http://schemas.microsoft.com/office/drawing/2014/main" id="{7BB89043-251C-4A1B-A874-133BB8368A6B}"/>
              </a:ext>
            </a:extLst>
          </p:cNvPr>
          <p:cNvSpPr txBox="1"/>
          <p:nvPr/>
        </p:nvSpPr>
        <p:spPr>
          <a:xfrm>
            <a:off x="4572000" y="3077721"/>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Admin</a:t>
            </a:r>
            <a:r>
              <a:rPr lang="en-US" sz="1800" b="1" spc="34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Profile</a:t>
            </a:r>
            <a:endParaRPr lang="en-IN" dirty="0"/>
          </a:p>
        </p:txBody>
      </p:sp>
      <p:sp>
        <p:nvSpPr>
          <p:cNvPr id="14" name="TextBox 13">
            <a:extLst>
              <a:ext uri="{FF2B5EF4-FFF2-40B4-BE49-F238E27FC236}">
                <a16:creationId xmlns:a16="http://schemas.microsoft.com/office/drawing/2014/main" id="{E6F80FBC-5569-4E05-928E-8A58BA9B2A1D}"/>
              </a:ext>
            </a:extLst>
          </p:cNvPr>
          <p:cNvSpPr txBox="1"/>
          <p:nvPr/>
        </p:nvSpPr>
        <p:spPr>
          <a:xfrm>
            <a:off x="4052172" y="6290822"/>
            <a:ext cx="4572000" cy="646331"/>
          </a:xfrm>
          <a:prstGeom prst="rect">
            <a:avLst/>
          </a:prstGeom>
          <a:noFill/>
        </p:spPr>
        <p:txBody>
          <a:bodyPr wrap="square">
            <a:spAutoFit/>
          </a:bodyPr>
          <a:lstStyle/>
          <a:p>
            <a:r>
              <a:rPr lang="en-US" b="1" dirty="0">
                <a:latin typeface="Times New Roman" panose="02020603050405020304" pitchFamily="18" charset="0"/>
              </a:rPr>
              <a:t>Manage sub-admin</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3AC5E2-3D8A-4796-BCC7-B67DF89F00CD}"/>
              </a:ext>
            </a:extLst>
          </p:cNvPr>
          <p:cNvPicPr>
            <a:picLocks noChangeAspect="1"/>
          </p:cNvPicPr>
          <p:nvPr/>
        </p:nvPicPr>
        <p:blipFill>
          <a:blip r:embed="rId2"/>
          <a:stretch>
            <a:fillRect/>
          </a:stretch>
        </p:blipFill>
        <p:spPr>
          <a:xfrm>
            <a:off x="1601469" y="3096098"/>
            <a:ext cx="7047587" cy="2925190"/>
          </a:xfrm>
          <a:prstGeom prst="rect">
            <a:avLst/>
          </a:prstGeom>
        </p:spPr>
      </p:pic>
      <p:pic>
        <p:nvPicPr>
          <p:cNvPr id="7" name="Picture 6">
            <a:extLst>
              <a:ext uri="{FF2B5EF4-FFF2-40B4-BE49-F238E27FC236}">
                <a16:creationId xmlns:a16="http://schemas.microsoft.com/office/drawing/2014/main" id="{7E5A9E5B-3FC2-4A1A-AF50-868C558F40B4}"/>
              </a:ext>
            </a:extLst>
          </p:cNvPr>
          <p:cNvPicPr>
            <a:picLocks noChangeAspect="1"/>
          </p:cNvPicPr>
          <p:nvPr/>
        </p:nvPicPr>
        <p:blipFill>
          <a:blip r:embed="rId3"/>
          <a:stretch>
            <a:fillRect/>
          </a:stretch>
        </p:blipFill>
        <p:spPr>
          <a:xfrm>
            <a:off x="1601470" y="116632"/>
            <a:ext cx="7047587" cy="2520280"/>
          </a:xfrm>
          <a:prstGeom prst="rect">
            <a:avLst/>
          </a:prstGeom>
        </p:spPr>
      </p:pic>
      <p:sp>
        <p:nvSpPr>
          <p:cNvPr id="11" name="TextBox 10">
            <a:extLst>
              <a:ext uri="{FF2B5EF4-FFF2-40B4-BE49-F238E27FC236}">
                <a16:creationId xmlns:a16="http://schemas.microsoft.com/office/drawing/2014/main" id="{525301B3-528F-4B59-97FE-B81B686454C2}"/>
              </a:ext>
            </a:extLst>
          </p:cNvPr>
          <p:cNvSpPr txBox="1"/>
          <p:nvPr/>
        </p:nvSpPr>
        <p:spPr>
          <a:xfrm>
            <a:off x="4572000" y="2663926"/>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Add Category</a:t>
            </a:r>
            <a:endParaRPr lang="en-IN" dirty="0"/>
          </a:p>
        </p:txBody>
      </p:sp>
      <p:sp>
        <p:nvSpPr>
          <p:cNvPr id="13" name="TextBox 12">
            <a:extLst>
              <a:ext uri="{FF2B5EF4-FFF2-40B4-BE49-F238E27FC236}">
                <a16:creationId xmlns:a16="http://schemas.microsoft.com/office/drawing/2014/main" id="{B1FEC8B7-A280-4E0F-B5D4-DB19C579FF0D}"/>
              </a:ext>
            </a:extLst>
          </p:cNvPr>
          <p:cNvSpPr txBox="1"/>
          <p:nvPr/>
        </p:nvSpPr>
        <p:spPr>
          <a:xfrm>
            <a:off x="4716016" y="6021288"/>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Manage Category</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C9BE6D-4012-4843-8FCC-26D4DC660AC8}"/>
              </a:ext>
            </a:extLst>
          </p:cNvPr>
          <p:cNvPicPr>
            <a:picLocks noChangeAspect="1"/>
          </p:cNvPicPr>
          <p:nvPr/>
        </p:nvPicPr>
        <p:blipFill>
          <a:blip r:embed="rId2"/>
          <a:stretch>
            <a:fillRect/>
          </a:stretch>
        </p:blipFill>
        <p:spPr>
          <a:xfrm>
            <a:off x="1619672" y="404664"/>
            <a:ext cx="7056784" cy="2592288"/>
          </a:xfrm>
          <a:prstGeom prst="rect">
            <a:avLst/>
          </a:prstGeom>
        </p:spPr>
      </p:pic>
      <p:pic>
        <p:nvPicPr>
          <p:cNvPr id="7" name="Picture 6">
            <a:extLst>
              <a:ext uri="{FF2B5EF4-FFF2-40B4-BE49-F238E27FC236}">
                <a16:creationId xmlns:a16="http://schemas.microsoft.com/office/drawing/2014/main" id="{98C87DF6-5A89-47A0-8316-D5B55B5BBA7A}"/>
              </a:ext>
            </a:extLst>
          </p:cNvPr>
          <p:cNvPicPr>
            <a:picLocks noChangeAspect="1"/>
          </p:cNvPicPr>
          <p:nvPr/>
        </p:nvPicPr>
        <p:blipFill>
          <a:blip r:embed="rId3"/>
          <a:stretch>
            <a:fillRect/>
          </a:stretch>
        </p:blipFill>
        <p:spPr>
          <a:xfrm>
            <a:off x="1583668" y="3573016"/>
            <a:ext cx="7128792" cy="2736304"/>
          </a:xfrm>
          <a:prstGeom prst="rect">
            <a:avLst/>
          </a:prstGeom>
        </p:spPr>
      </p:pic>
      <p:sp>
        <p:nvSpPr>
          <p:cNvPr id="9" name="TextBox 8">
            <a:extLst>
              <a:ext uri="{FF2B5EF4-FFF2-40B4-BE49-F238E27FC236}">
                <a16:creationId xmlns:a16="http://schemas.microsoft.com/office/drawing/2014/main" id="{CA6BA2DA-4413-448B-98A0-7F9C8316F0DC}"/>
              </a:ext>
            </a:extLst>
          </p:cNvPr>
          <p:cNvSpPr txBox="1"/>
          <p:nvPr/>
        </p:nvSpPr>
        <p:spPr>
          <a:xfrm>
            <a:off x="4545665" y="2996952"/>
            <a:ext cx="4572000" cy="369332"/>
          </a:xfrm>
          <a:prstGeom prst="rect">
            <a:avLst/>
          </a:prstGeom>
          <a:noFill/>
        </p:spPr>
        <p:txBody>
          <a:bodyPr wrap="square">
            <a:spAutoFit/>
          </a:bodyPr>
          <a:lstStyle/>
          <a:p>
            <a:r>
              <a:rPr lang="en-US" dirty="0"/>
              <a:t>Add Pass</a:t>
            </a:r>
            <a:endParaRPr lang="en-IN" dirty="0"/>
          </a:p>
        </p:txBody>
      </p:sp>
      <p:sp>
        <p:nvSpPr>
          <p:cNvPr id="11" name="TextBox 10">
            <a:extLst>
              <a:ext uri="{FF2B5EF4-FFF2-40B4-BE49-F238E27FC236}">
                <a16:creationId xmlns:a16="http://schemas.microsoft.com/office/drawing/2014/main" id="{0804467A-0C98-424D-8D69-59ED18705153}"/>
              </a:ext>
            </a:extLst>
          </p:cNvPr>
          <p:cNvSpPr txBox="1"/>
          <p:nvPr/>
        </p:nvSpPr>
        <p:spPr>
          <a:xfrm>
            <a:off x="4545665" y="6268670"/>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Manage </a:t>
            </a:r>
            <a:r>
              <a:rPr lang="en-US" b="1" dirty="0">
                <a:latin typeface="Times New Roman" panose="02020603050405020304" pitchFamily="18" charset="0"/>
                <a:ea typeface="Times New Roman" panose="02020603050405020304" pitchFamily="18" charset="0"/>
              </a:rPr>
              <a:t>Pass</a:t>
            </a:r>
            <a:endParaRPr lang="en-IN" dirty="0"/>
          </a:p>
        </p:txBody>
      </p:sp>
    </p:spTree>
    <p:extLst>
      <p:ext uri="{BB962C8B-B14F-4D97-AF65-F5344CB8AC3E}">
        <p14:creationId xmlns:p14="http://schemas.microsoft.com/office/powerpoint/2010/main" val="456955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FC57D9-9E3A-4DA9-AC36-44841D6CE7EB}"/>
              </a:ext>
            </a:extLst>
          </p:cNvPr>
          <p:cNvPicPr>
            <a:picLocks noChangeAspect="1"/>
          </p:cNvPicPr>
          <p:nvPr/>
        </p:nvPicPr>
        <p:blipFill>
          <a:blip r:embed="rId2"/>
          <a:stretch>
            <a:fillRect/>
          </a:stretch>
        </p:blipFill>
        <p:spPr>
          <a:xfrm>
            <a:off x="1475656" y="260648"/>
            <a:ext cx="7200800" cy="2664296"/>
          </a:xfrm>
          <a:prstGeom prst="rect">
            <a:avLst/>
          </a:prstGeom>
        </p:spPr>
      </p:pic>
      <p:pic>
        <p:nvPicPr>
          <p:cNvPr id="7" name="Picture 6">
            <a:extLst>
              <a:ext uri="{FF2B5EF4-FFF2-40B4-BE49-F238E27FC236}">
                <a16:creationId xmlns:a16="http://schemas.microsoft.com/office/drawing/2014/main" id="{7EAD16E9-51C4-497D-B6C6-2197556AAE68}"/>
              </a:ext>
            </a:extLst>
          </p:cNvPr>
          <p:cNvPicPr>
            <a:picLocks noChangeAspect="1"/>
          </p:cNvPicPr>
          <p:nvPr/>
        </p:nvPicPr>
        <p:blipFill>
          <a:blip r:embed="rId3"/>
          <a:stretch>
            <a:fillRect/>
          </a:stretch>
        </p:blipFill>
        <p:spPr>
          <a:xfrm>
            <a:off x="1475656" y="3429000"/>
            <a:ext cx="7200800" cy="2952328"/>
          </a:xfrm>
          <a:prstGeom prst="rect">
            <a:avLst/>
          </a:prstGeom>
        </p:spPr>
      </p:pic>
      <p:sp>
        <p:nvSpPr>
          <p:cNvPr id="9" name="TextBox 8">
            <a:extLst>
              <a:ext uri="{FF2B5EF4-FFF2-40B4-BE49-F238E27FC236}">
                <a16:creationId xmlns:a16="http://schemas.microsoft.com/office/drawing/2014/main" id="{126C22E7-4907-4501-AECA-17F1092FD50D}"/>
              </a:ext>
            </a:extLst>
          </p:cNvPr>
          <p:cNvSpPr txBox="1"/>
          <p:nvPr/>
        </p:nvSpPr>
        <p:spPr>
          <a:xfrm>
            <a:off x="4355976" y="2924944"/>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Search Pass</a:t>
            </a:r>
            <a:endParaRPr lang="en-IN" dirty="0"/>
          </a:p>
        </p:txBody>
      </p:sp>
      <p:sp>
        <p:nvSpPr>
          <p:cNvPr id="11" name="TextBox 10">
            <a:extLst>
              <a:ext uri="{FF2B5EF4-FFF2-40B4-BE49-F238E27FC236}">
                <a16:creationId xmlns:a16="http://schemas.microsoft.com/office/drawing/2014/main" id="{22AA3C32-39BE-46FD-9574-5E13B8BBFE1A}"/>
              </a:ext>
            </a:extLst>
          </p:cNvPr>
          <p:cNvSpPr txBox="1"/>
          <p:nvPr/>
        </p:nvSpPr>
        <p:spPr>
          <a:xfrm>
            <a:off x="4568458" y="6278582"/>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Search Pass</a:t>
            </a:r>
            <a:endParaRPr lang="en-IN" dirty="0"/>
          </a:p>
        </p:txBody>
      </p:sp>
    </p:spTree>
    <p:extLst>
      <p:ext uri="{BB962C8B-B14F-4D97-AF65-F5344CB8AC3E}">
        <p14:creationId xmlns:p14="http://schemas.microsoft.com/office/powerpoint/2010/main" val="1826560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FA54EC-02F7-457B-92EE-0CBABFD208A2}"/>
              </a:ext>
            </a:extLst>
          </p:cNvPr>
          <p:cNvPicPr>
            <a:picLocks noChangeAspect="1"/>
          </p:cNvPicPr>
          <p:nvPr/>
        </p:nvPicPr>
        <p:blipFill>
          <a:blip r:embed="rId2"/>
          <a:stretch>
            <a:fillRect/>
          </a:stretch>
        </p:blipFill>
        <p:spPr>
          <a:xfrm>
            <a:off x="1331640" y="290057"/>
            <a:ext cx="7643866" cy="2664296"/>
          </a:xfrm>
          <a:prstGeom prst="rect">
            <a:avLst/>
          </a:prstGeom>
        </p:spPr>
      </p:pic>
      <p:pic>
        <p:nvPicPr>
          <p:cNvPr id="9" name="Picture 8">
            <a:extLst>
              <a:ext uri="{FF2B5EF4-FFF2-40B4-BE49-F238E27FC236}">
                <a16:creationId xmlns:a16="http://schemas.microsoft.com/office/drawing/2014/main" id="{6A392D02-0842-4F61-B1B7-818CB776F8F9}"/>
              </a:ext>
            </a:extLst>
          </p:cNvPr>
          <p:cNvPicPr>
            <a:picLocks noChangeAspect="1"/>
          </p:cNvPicPr>
          <p:nvPr/>
        </p:nvPicPr>
        <p:blipFill>
          <a:blip r:embed="rId3"/>
          <a:stretch>
            <a:fillRect/>
          </a:stretch>
        </p:blipFill>
        <p:spPr>
          <a:xfrm>
            <a:off x="1403648" y="3661291"/>
            <a:ext cx="7571858" cy="2664296"/>
          </a:xfrm>
          <a:prstGeom prst="rect">
            <a:avLst/>
          </a:prstGeom>
        </p:spPr>
      </p:pic>
      <p:sp>
        <p:nvSpPr>
          <p:cNvPr id="11" name="TextBox 10">
            <a:extLst>
              <a:ext uri="{FF2B5EF4-FFF2-40B4-BE49-F238E27FC236}">
                <a16:creationId xmlns:a16="http://schemas.microsoft.com/office/drawing/2014/main" id="{C2FB7C8A-38AE-4113-9E1B-650A6FCAF6D3}"/>
              </a:ext>
            </a:extLst>
          </p:cNvPr>
          <p:cNvSpPr txBox="1"/>
          <p:nvPr/>
        </p:nvSpPr>
        <p:spPr>
          <a:xfrm>
            <a:off x="1691680" y="2954353"/>
            <a:ext cx="5166320" cy="677108"/>
          </a:xfrm>
          <a:prstGeom prst="rect">
            <a:avLst/>
          </a:prstGeom>
          <a:noFill/>
        </p:spPr>
        <p:txBody>
          <a:bodyPr wrap="square">
            <a:spAutoFit/>
          </a:bodyPr>
          <a:lstStyle/>
          <a:p>
            <a:pPr marL="2350135"/>
            <a:r>
              <a:rPr lang="en-US" sz="1800" b="1" dirty="0">
                <a:effectLst/>
                <a:latin typeface="Times New Roman" panose="02020603050405020304" pitchFamily="18" charset="0"/>
                <a:ea typeface="Times New Roman" panose="02020603050405020304" pitchFamily="18" charset="0"/>
              </a:rPr>
              <a:t>Between Dates Reports</a:t>
            </a:r>
            <a:endParaRPr lang="en-IN" sz="1400" dirty="0">
              <a:effectLst/>
              <a:latin typeface="Times New Roman" panose="02020603050405020304" pitchFamily="18" charset="0"/>
              <a:ea typeface="Times New Roman" panose="02020603050405020304" pitchFamily="18" charset="0"/>
            </a:endParaRPr>
          </a:p>
          <a:p>
            <a:r>
              <a:rPr lang="en-US" sz="20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
        <p:nvSpPr>
          <p:cNvPr id="13" name="TextBox 12">
            <a:extLst>
              <a:ext uri="{FF2B5EF4-FFF2-40B4-BE49-F238E27FC236}">
                <a16:creationId xmlns:a16="http://schemas.microsoft.com/office/drawing/2014/main" id="{E7C70F29-1DEF-4C06-A281-91943A22D721}"/>
              </a:ext>
            </a:extLst>
          </p:cNvPr>
          <p:cNvSpPr txBox="1"/>
          <p:nvPr/>
        </p:nvSpPr>
        <p:spPr>
          <a:xfrm>
            <a:off x="2140031" y="6295757"/>
            <a:ext cx="4863937" cy="677108"/>
          </a:xfrm>
          <a:prstGeom prst="rect">
            <a:avLst/>
          </a:prstGeom>
          <a:noFill/>
        </p:spPr>
        <p:txBody>
          <a:bodyPr wrap="square">
            <a:spAutoFit/>
          </a:bodyPr>
          <a:lstStyle/>
          <a:p>
            <a:pPr marL="2350135"/>
            <a:r>
              <a:rPr lang="en-US" b="1" dirty="0">
                <a:latin typeface="Times New Roman" panose="02020603050405020304" pitchFamily="18" charset="0"/>
                <a:ea typeface="Times New Roman" panose="02020603050405020304" pitchFamily="18" charset="0"/>
              </a:rPr>
              <a:t>Created By Reports</a:t>
            </a:r>
            <a:endParaRPr lang="en-IN" sz="1400" dirty="0">
              <a:effectLst/>
              <a:latin typeface="Times New Roman" panose="02020603050405020304" pitchFamily="18" charset="0"/>
              <a:ea typeface="Times New Roman" panose="02020603050405020304" pitchFamily="18" charset="0"/>
            </a:endParaRPr>
          </a:p>
          <a:p>
            <a:r>
              <a:rPr lang="en-US" sz="20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DE8ACA-87DD-4E7C-B0D4-745B09034A60}"/>
              </a:ext>
            </a:extLst>
          </p:cNvPr>
          <p:cNvPicPr>
            <a:picLocks noChangeAspect="1"/>
          </p:cNvPicPr>
          <p:nvPr/>
        </p:nvPicPr>
        <p:blipFill>
          <a:blip r:embed="rId2"/>
          <a:stretch>
            <a:fillRect/>
          </a:stretch>
        </p:blipFill>
        <p:spPr>
          <a:xfrm>
            <a:off x="1115616" y="980728"/>
            <a:ext cx="7920880" cy="4032448"/>
          </a:xfrm>
          <a:prstGeom prst="rect">
            <a:avLst/>
          </a:prstGeom>
        </p:spPr>
      </p:pic>
      <p:sp>
        <p:nvSpPr>
          <p:cNvPr id="7" name="TextBox 6">
            <a:extLst>
              <a:ext uri="{FF2B5EF4-FFF2-40B4-BE49-F238E27FC236}">
                <a16:creationId xmlns:a16="http://schemas.microsoft.com/office/drawing/2014/main" id="{48D022D6-B002-4B95-B56D-2BD92F140FED}"/>
              </a:ext>
            </a:extLst>
          </p:cNvPr>
          <p:cNvSpPr txBox="1"/>
          <p:nvPr/>
        </p:nvSpPr>
        <p:spPr>
          <a:xfrm>
            <a:off x="1403648" y="5157192"/>
            <a:ext cx="5076056" cy="677108"/>
          </a:xfrm>
          <a:prstGeom prst="rect">
            <a:avLst/>
          </a:prstGeom>
          <a:noFill/>
        </p:spPr>
        <p:txBody>
          <a:bodyPr wrap="square">
            <a:spAutoFit/>
          </a:bodyPr>
          <a:lstStyle/>
          <a:p>
            <a:pPr marL="2350135"/>
            <a:r>
              <a:rPr lang="en-US" b="1" dirty="0">
                <a:latin typeface="Times New Roman" panose="02020603050405020304" pitchFamily="18" charset="0"/>
                <a:ea typeface="Times New Roman" panose="02020603050405020304" pitchFamily="18" charset="0"/>
              </a:rPr>
              <a:t>Sub-Admin|Dashboard</a:t>
            </a:r>
            <a:endParaRPr lang="en-IN" sz="1400" dirty="0">
              <a:effectLst/>
              <a:latin typeface="Times New Roman" panose="02020603050405020304" pitchFamily="18" charset="0"/>
              <a:ea typeface="Times New Roman" panose="02020603050405020304" pitchFamily="18" charset="0"/>
            </a:endParaRPr>
          </a:p>
          <a:p>
            <a:r>
              <a:rPr lang="en-US" sz="20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70800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94417-0433-46D2-BACD-931896A40C88}"/>
              </a:ext>
            </a:extLst>
          </p:cNvPr>
          <p:cNvSpPr>
            <a:spLocks noGrp="1"/>
          </p:cNvSpPr>
          <p:nvPr>
            <p:ph type="title"/>
          </p:nvPr>
        </p:nvSpPr>
        <p:spPr>
          <a:xfrm>
            <a:off x="2771800" y="274638"/>
            <a:ext cx="6161888" cy="1143000"/>
          </a:xfrm>
        </p:spPr>
        <p:txBody>
          <a:bodyPr/>
          <a:lstStyle/>
          <a:p>
            <a:r>
              <a:rPr lang="en-US" b="1" u="sng" dirty="0"/>
              <a:t>CONCLUSION</a:t>
            </a:r>
            <a:endParaRPr lang="en-IN" b="1" u="sng" dirty="0"/>
          </a:p>
        </p:txBody>
      </p:sp>
      <p:sp>
        <p:nvSpPr>
          <p:cNvPr id="3" name="Content Placeholder 2">
            <a:extLst>
              <a:ext uri="{FF2B5EF4-FFF2-40B4-BE49-F238E27FC236}">
                <a16:creationId xmlns:a16="http://schemas.microsoft.com/office/drawing/2014/main" id="{BAAB961A-01C9-44F5-9617-84E30035C72F}"/>
              </a:ext>
            </a:extLst>
          </p:cNvPr>
          <p:cNvSpPr>
            <a:spLocks noGrp="1"/>
          </p:cNvSpPr>
          <p:nvPr>
            <p:ph idx="1"/>
          </p:nvPr>
        </p:nvSpPr>
        <p:spPr/>
        <p:txBody>
          <a:bodyPr>
            <a:normAutofit/>
          </a:bodyPr>
          <a:lstStyle/>
          <a:p>
            <a:pPr marL="82296" indent="0">
              <a:buNone/>
            </a:pPr>
            <a:r>
              <a:rPr lang="en-US" sz="2200" dirty="0"/>
              <a:t>The </a:t>
            </a:r>
            <a:r>
              <a:rPr lang="en-IN" sz="2400" b="1" dirty="0"/>
              <a:t>Curfew Pass Management System </a:t>
            </a:r>
            <a:r>
              <a:rPr lang="en-US" sz="2200" dirty="0"/>
              <a:t>is a great improvement over the manual system which uses lots of manual work. The computerization of the system speeds up the process. This system was thoroughly checked and tested with dummy data and found to be very reliable. </a:t>
            </a:r>
          </a:p>
          <a:p>
            <a:endParaRPr lang="en-US" sz="2200" dirty="0"/>
          </a:p>
          <a:p>
            <a:pPr marL="82296" indent="0">
              <a:buNone/>
            </a:pPr>
            <a:r>
              <a:rPr lang="en-US" sz="2200" b="1" u="sng" dirty="0"/>
              <a:t>FEATURES INCULDE</a:t>
            </a:r>
          </a:p>
          <a:p>
            <a:pPr marL="285750" indent="-285750">
              <a:buFont typeface="Arial" panose="020B0604020202020204" pitchFamily="34" charset="0"/>
              <a:buChar char="•"/>
            </a:pPr>
            <a:r>
              <a:rPr lang="en-US" sz="2200" dirty="0"/>
              <a:t>It is fast, efficient and reliable.  </a:t>
            </a:r>
          </a:p>
          <a:p>
            <a:pPr marL="285750" indent="-285750">
              <a:buFont typeface="Arial" panose="020B0604020202020204" pitchFamily="34" charset="0"/>
              <a:buChar char="•"/>
            </a:pPr>
            <a:r>
              <a:rPr lang="en-US" sz="2200" dirty="0"/>
              <a:t>Avoids data redundancy and inconsistency </a:t>
            </a:r>
          </a:p>
          <a:p>
            <a:pPr marL="285750" indent="-285750">
              <a:buFont typeface="Arial" panose="020B0604020202020204" pitchFamily="34" charset="0"/>
              <a:buChar char="•"/>
            </a:pPr>
            <a:r>
              <a:rPr lang="en-US" sz="2200" dirty="0"/>
              <a:t>Web-based </a:t>
            </a:r>
          </a:p>
          <a:p>
            <a:pPr marL="285750" indent="-285750">
              <a:buFont typeface="Arial" panose="020B0604020202020204" pitchFamily="34" charset="0"/>
              <a:buChar char="•"/>
            </a:pPr>
            <a:r>
              <a:rPr lang="en-US" sz="2200" dirty="0"/>
              <a:t>Any number of users can use it </a:t>
            </a:r>
          </a:p>
          <a:p>
            <a:pPr marL="285750" indent="-285750">
              <a:buFont typeface="Arial" panose="020B0604020202020204" pitchFamily="34" charset="0"/>
              <a:buChar char="•"/>
            </a:pPr>
            <a:r>
              <a:rPr lang="en-US" sz="2200" dirty="0"/>
              <a:t>Provides more security and integrity to data</a:t>
            </a:r>
            <a:endParaRPr lang="en-IN" sz="2200" dirty="0"/>
          </a:p>
        </p:txBody>
      </p:sp>
    </p:spTree>
    <p:extLst>
      <p:ext uri="{BB962C8B-B14F-4D97-AF65-F5344CB8AC3E}">
        <p14:creationId xmlns:p14="http://schemas.microsoft.com/office/powerpoint/2010/main" val="377663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25470"/>
          </a:xfrm>
        </p:spPr>
        <p:txBody>
          <a:bodyPr>
            <a:normAutofit fontScale="90000"/>
          </a:bodyPr>
          <a:lstStyle/>
          <a:p>
            <a:pPr algn="ctr"/>
            <a:r>
              <a:rPr lang="en-US" b="1" u="sng" dirty="0"/>
              <a:t>REFERENCES</a:t>
            </a:r>
            <a:br>
              <a:rPr lang="en-US" dirty="0"/>
            </a:br>
            <a:endParaRPr lang="en-US" dirty="0"/>
          </a:p>
        </p:txBody>
      </p:sp>
      <p:sp>
        <p:nvSpPr>
          <p:cNvPr id="3" name="Content Placeholder 2"/>
          <p:cNvSpPr>
            <a:spLocks noGrp="1"/>
          </p:cNvSpPr>
          <p:nvPr>
            <p:ph idx="1"/>
          </p:nvPr>
        </p:nvSpPr>
        <p:spPr>
          <a:xfrm>
            <a:off x="1435608" y="785794"/>
            <a:ext cx="7498080" cy="5462606"/>
          </a:xfrm>
        </p:spPr>
        <p:txBody>
          <a:bodyPr>
            <a:normAutofit/>
          </a:bodyPr>
          <a:lstStyle/>
          <a:p>
            <a:pPr>
              <a:buNone/>
            </a:pPr>
            <a:r>
              <a:rPr lang="en-US" sz="2000" b="1" dirty="0"/>
              <a:t>For PHP</a:t>
            </a:r>
            <a:endParaRPr lang="en-US" sz="2000" dirty="0"/>
          </a:p>
          <a:p>
            <a:pPr lvl="0">
              <a:buFont typeface="Wingdings" pitchFamily="2" charset="2"/>
              <a:buChar char="q"/>
            </a:pPr>
            <a:r>
              <a:rPr lang="en-US" sz="2400" u="sng" dirty="0">
                <a:solidFill>
                  <a:schemeClr val="accent1"/>
                </a:solidFill>
                <a:hlinkClick r:id="rId2">
                  <a:extLst>
                    <a:ext uri="{A12FA001-AC4F-418D-AE19-62706E023703}">
                      <ahyp:hlinkClr xmlns:ahyp="http://schemas.microsoft.com/office/drawing/2018/hyperlinkcolor" val="tx"/>
                    </a:ext>
                  </a:extLst>
                </a:hlinkClick>
              </a:rPr>
              <a:t>https://www.w3schools.com/php/default.asp</a:t>
            </a:r>
            <a:endParaRPr lang="en-US" sz="2400" dirty="0">
              <a:solidFill>
                <a:schemeClr val="accent1"/>
              </a:solidFill>
            </a:endParaRPr>
          </a:p>
          <a:p>
            <a:pPr lvl="0">
              <a:buFont typeface="Wingdings" pitchFamily="2" charset="2"/>
              <a:buChar char="q"/>
            </a:pPr>
            <a:r>
              <a:rPr lang="en-US" sz="2400" u="sng" dirty="0">
                <a:solidFill>
                  <a:schemeClr val="accent1"/>
                </a:solidFill>
                <a:hlinkClick r:id="rId3">
                  <a:extLst>
                    <a:ext uri="{A12FA001-AC4F-418D-AE19-62706E023703}">
                      <ahyp:hlinkClr xmlns:ahyp="http://schemas.microsoft.com/office/drawing/2018/hyperlinkcolor" val="tx"/>
                    </a:ext>
                  </a:extLst>
                </a:hlinkClick>
              </a:rPr>
              <a:t>https://www.sitepoint.com/php/</a:t>
            </a:r>
            <a:endParaRPr lang="en-US" sz="2400" dirty="0">
              <a:solidFill>
                <a:schemeClr val="accent1"/>
              </a:solidFill>
            </a:endParaRPr>
          </a:p>
          <a:p>
            <a:pPr lvl="0">
              <a:buFont typeface="Wingdings" pitchFamily="2" charset="2"/>
              <a:buChar char="q"/>
            </a:pPr>
            <a:r>
              <a:rPr lang="en-US" sz="2400" u="sng" dirty="0">
                <a:solidFill>
                  <a:schemeClr val="accent1"/>
                </a:solidFill>
                <a:hlinkClick r:id="rId4">
                  <a:extLst>
                    <a:ext uri="{A12FA001-AC4F-418D-AE19-62706E023703}">
                      <ahyp:hlinkClr xmlns:ahyp="http://schemas.microsoft.com/office/drawing/2018/hyperlinkcolor" val="tx"/>
                    </a:ext>
                  </a:extLst>
                </a:hlinkClick>
              </a:rPr>
              <a:t>https://www.php.net/</a:t>
            </a:r>
            <a:endParaRPr lang="en-US" sz="2400" dirty="0">
              <a:solidFill>
                <a:schemeClr val="accent1"/>
              </a:solidFill>
            </a:endParaRPr>
          </a:p>
          <a:p>
            <a:pPr>
              <a:buNone/>
            </a:pPr>
            <a:r>
              <a:rPr lang="en-US" sz="2800" dirty="0"/>
              <a:t> </a:t>
            </a:r>
          </a:p>
          <a:p>
            <a:pPr>
              <a:buNone/>
            </a:pPr>
            <a:r>
              <a:rPr lang="en-US" sz="2000" b="1" dirty="0"/>
              <a:t>For MySQL</a:t>
            </a:r>
            <a:endParaRPr lang="en-US" sz="2000" dirty="0"/>
          </a:p>
          <a:p>
            <a:pPr lvl="0">
              <a:buFont typeface="Wingdings" pitchFamily="2" charset="2"/>
              <a:buChar char="q"/>
            </a:pPr>
            <a:r>
              <a:rPr lang="en-US" sz="2400" u="sng" dirty="0">
                <a:solidFill>
                  <a:schemeClr val="accent1"/>
                </a:solidFill>
                <a:hlinkClick r:id="rId5">
                  <a:extLst>
                    <a:ext uri="{A12FA001-AC4F-418D-AE19-62706E023703}">
                      <ahyp:hlinkClr xmlns:ahyp="http://schemas.microsoft.com/office/drawing/2018/hyperlinkcolor" val="tx"/>
                    </a:ext>
                  </a:extLst>
                </a:hlinkClick>
              </a:rPr>
              <a:t>https://www.mysql.com/</a:t>
            </a:r>
            <a:endParaRPr lang="en-US" sz="2400" dirty="0">
              <a:solidFill>
                <a:schemeClr val="accent1"/>
              </a:solidFill>
            </a:endParaRPr>
          </a:p>
          <a:p>
            <a:pPr lvl="0">
              <a:buFont typeface="Wingdings" pitchFamily="2" charset="2"/>
              <a:buChar char="q"/>
            </a:pPr>
            <a:r>
              <a:rPr lang="en-US" sz="2400" u="sng" dirty="0">
                <a:solidFill>
                  <a:schemeClr val="accent1"/>
                </a:solidFill>
                <a:hlinkClick r:id="rId6">
                  <a:extLst>
                    <a:ext uri="{A12FA001-AC4F-418D-AE19-62706E023703}">
                      <ahyp:hlinkClr xmlns:ahyp="http://schemas.microsoft.com/office/drawing/2018/hyperlinkcolor" val="tx"/>
                    </a:ext>
                  </a:extLst>
                </a:hlinkClick>
              </a:rPr>
              <a:t>http://www.mysqltutorial.org</a:t>
            </a:r>
            <a:endParaRPr lang="en-US" sz="2400" dirty="0">
              <a:solidFill>
                <a:schemeClr val="accent1"/>
              </a:solidFill>
            </a:endParaRPr>
          </a:p>
          <a:p>
            <a:pPr>
              <a:buNone/>
            </a:pPr>
            <a:r>
              <a:rPr lang="en-US" sz="2000" b="1" dirty="0"/>
              <a:t> </a:t>
            </a:r>
            <a:endParaRPr lang="en-US" sz="2000" dirty="0"/>
          </a:p>
          <a:p>
            <a:pPr>
              <a:buNone/>
            </a:pPr>
            <a:r>
              <a:rPr lang="en-US" sz="2000" b="1" dirty="0"/>
              <a:t>For XAMPP</a:t>
            </a:r>
            <a:endParaRPr lang="en-US" sz="2000" dirty="0"/>
          </a:p>
          <a:p>
            <a:pPr lvl="0">
              <a:buFont typeface="Wingdings" pitchFamily="2" charset="2"/>
              <a:buChar char="q"/>
            </a:pPr>
            <a:r>
              <a:rPr lang="en-US" sz="2400" u="sng" dirty="0">
                <a:solidFill>
                  <a:schemeClr val="accent1"/>
                </a:solidFill>
                <a:hlinkClick r:id="rId7">
                  <a:extLst>
                    <a:ext uri="{A12FA001-AC4F-418D-AE19-62706E023703}">
                      <ahyp:hlinkClr xmlns:ahyp="http://schemas.microsoft.com/office/drawing/2018/hyperlinkcolor" val="tx"/>
                    </a:ext>
                  </a:extLst>
                </a:hlinkClick>
              </a:rPr>
              <a:t>https://www.apachefriends.org/download.html</a:t>
            </a:r>
            <a:endParaRPr lang="en-US" sz="2400" dirty="0">
              <a:solidFill>
                <a:schemeClr val="accent1"/>
              </a:solidFill>
            </a:endParaRPr>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7290" y="2428868"/>
            <a:ext cx="7498080" cy="1143000"/>
          </a:xfrm>
        </p:spPr>
        <p:txBody>
          <a:bodyPr>
            <a:normAutofit/>
          </a:bodyPr>
          <a:lstStyle/>
          <a:p>
            <a:pPr algn="ctr"/>
            <a:r>
              <a:rPr lang="en-IN" sz="6600" b="1" dirty="0"/>
              <a:t>Thank You!</a:t>
            </a:r>
            <a:endParaRPr lang="en-US" sz="6600" b="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485</TotalTime>
  <Words>630</Words>
  <Application>Microsoft Office PowerPoint</Application>
  <PresentationFormat>On-screen Show (4:3)</PresentationFormat>
  <Paragraphs>83</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Gill Sans MT</vt:lpstr>
      <vt:lpstr>Times New Roman</vt:lpstr>
      <vt:lpstr>Verdana</vt:lpstr>
      <vt:lpstr>Wingdings</vt:lpstr>
      <vt:lpstr>Wingdings 2</vt:lpstr>
      <vt:lpstr>Solstice</vt:lpstr>
      <vt:lpstr>Curfew e-Pass Management System Developed in PHP &amp; MySQL </vt:lpstr>
      <vt:lpstr> INTRODUCTION </vt:lpstr>
      <vt:lpstr>IDEA OF IMPLEMENTATION  </vt:lpstr>
      <vt:lpstr>SUB-ADMIN   </vt:lpstr>
      <vt:lpstr>ER Diagram</vt:lpstr>
      <vt:lpstr>RELATIONAL SCHEMA</vt:lpstr>
      <vt:lpstr>PROJECT SCREENS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COVID19 Testing  Management System</dc:title>
  <dc:creator>Anuj kumar</dc:creator>
  <cp:lastModifiedBy>madhu sudhan</cp:lastModifiedBy>
  <cp:revision>39</cp:revision>
  <dcterms:created xsi:type="dcterms:W3CDTF">2021-11-06T13:13:02Z</dcterms:created>
  <dcterms:modified xsi:type="dcterms:W3CDTF">2022-03-24T12:44:21Z</dcterms:modified>
</cp:coreProperties>
</file>